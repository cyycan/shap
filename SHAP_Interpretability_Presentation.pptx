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3200400"/>
            <a:ext cx="2011680" cy="201168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SHAP-Based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Interpretability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&amp; Best Practices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22860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Implementation to Production: A Practical Framework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Attribution  •  Model Explainability  •  Team Mentoring  •  Production 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247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1247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Interpretability Matters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case, compliance &amp; trust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9456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677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22677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Fundamentals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26974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intuition behind feature attribution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33756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4107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" y="34107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Walkthrough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38404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setup across model types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05156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05156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11247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83480" y="11247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Standards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83480" y="15544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practices, monitoring, governance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19456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19456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22677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983480" y="22677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 Engineers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83480" y="26974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team capability on explainable AI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Interpretability Matters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1430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EU AI Act, and financial regulations require explainable decisions. Models must provide human-understandable reasoning.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1155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577840" y="11430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Trust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60020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exposes spurious correlations and data leakage issues before they reach production at scale.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0358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97280" y="306324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Buy-in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352044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leaders and customers trust AI systems more when outcomes can be traced back to specific input drivers.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92608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30358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577840" y="306324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Detection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352044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attribution surfaces protected attributes that unfairly dominate model predictions — critical for fairness audits.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Fundamentals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SHAP?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Additive exPlanations (SHAP) assigns each feature a contribution value for a specific prediction, rooted in cooperative game theory. The SHAP value for feature i is the average marginal contribution across all possible feature coalitions.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788920"/>
            <a:ext cx="4206240" cy="822960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8529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φᵢ = Σ |S|!(|F|-|S|-1)!/|F|! × [f(S∪{i}) − f(S)]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value formula — fair attribution across all coalitions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960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Properties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937760" y="1417320"/>
            <a:ext cx="384048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141732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4538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Accuracy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17373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sum to the difference between model output and baseline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2240280"/>
            <a:ext cx="384048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224028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227685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4920" y="2560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absent in data receive zero attribution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3063240"/>
            <a:ext cx="384048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9" name="Shape 17"/>
          <p:cNvSpPr/>
          <p:nvPr/>
        </p:nvSpPr>
        <p:spPr>
          <a:xfrm>
            <a:off x="4937760" y="306324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309981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33832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feature contributes more in one model, its SHAP value will be higher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3886200"/>
            <a:ext cx="384048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3" name="Shape 21"/>
          <p:cNvSpPr/>
          <p:nvPr/>
        </p:nvSpPr>
        <p:spPr>
          <a:xfrm>
            <a:off x="4937760" y="388620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392277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74920" y="42062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explanations are just averages of local SHAP values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SHAP Explainer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20624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9966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TreeExplainer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0" y="9966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Models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41732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XGBoost, LightGBM, RandomForest. Exact SHAP values in O(TLD²) time. Best for tabular ML.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3500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Most common in production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960120"/>
            <a:ext cx="4206240" cy="34747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4956048" y="9966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LinearExplainer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0" y="9966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56048" y="141732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linear models. SHAP = coefficient × (feature − mean). Fast and exact.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56048" y="23500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Logistic/Linear Regression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26080"/>
            <a:ext cx="420624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2962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DeepExplainer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00400" y="29626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338328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DeepLIFT algorithm. Approximates SHAP for deep learning models via backpropagation.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" y="43159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TensorFlow, PyTorch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92608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926080"/>
            <a:ext cx="420624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4956048" y="2962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KernelExplainer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80960" y="29626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56048" y="338328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fallback. Slower but universal — works on any black-box function.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56048" y="43159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When no optimized explainer exists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Walkthrough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16916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069848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Setup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" y="1581912"/>
            <a:ext cx="3977640" cy="914400"/>
          </a:xfrm>
          <a:prstGeom prst="rect">
            <a:avLst/>
          </a:prstGeom>
          <a:solidFill>
            <a:srgbClr val="020C1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2763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shap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shap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shap.initjs()  # for notebooks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4206240" cy="16916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1" name="Shape 9"/>
          <p:cNvSpPr/>
          <p:nvPr/>
        </p:nvSpPr>
        <p:spPr>
          <a:xfrm>
            <a:off x="4956048" y="1069848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956048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40680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Your Explainer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56048" y="1581912"/>
            <a:ext cx="3977640" cy="914400"/>
          </a:xfrm>
          <a:prstGeom prst="rect">
            <a:avLst/>
          </a:prstGeom>
          <a:solidFill>
            <a:srgbClr val="020C1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62763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 tree models: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explainer = shap.TreeExplainer(model)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shap_values = explainer(X_test)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4206240" cy="16916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" y="2990088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0175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Explanation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" y="3502152"/>
            <a:ext cx="3977640" cy="914400"/>
          </a:xfrm>
          <a:prstGeom prst="rect">
            <a:avLst/>
          </a:prstGeom>
          <a:solidFill>
            <a:srgbClr val="020C1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4787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Single prediction waterfall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shap.plots.waterfall(shap_values[0])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880360"/>
            <a:ext cx="4206240" cy="16916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3" name="Shape 21"/>
          <p:cNvSpPr/>
          <p:nvPr/>
        </p:nvSpPr>
        <p:spPr>
          <a:xfrm>
            <a:off x="4956048" y="2990088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956048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40680" y="30175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Summary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56048" y="3502152"/>
            <a:ext cx="3977640" cy="914400"/>
          </a:xfrm>
          <a:prstGeom prst="rect">
            <a:avLst/>
          </a:prstGeom>
          <a:solidFill>
            <a:srgbClr val="020C18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54787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 importance across dataset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shap.summary_plot(shap_values, X_test)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SHAP Visualizations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106984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Plot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Single prediction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contribution of each feature to move from baseline to final prediction. Best for explaining individual decisions to stakeholders.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🔵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94760" y="106984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Plot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4630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Global overview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7373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Beeswarm showing feature importance + direction of effect. Essential for understanding model behavior across the full dataset.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20840" y="106984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 Plot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14630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Feature deep-dive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17373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 vs feature value, colored by interaction feature. Reveals non-linear effects and unexpected patterns.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2971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➡️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8680" y="299008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Plot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3832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Stakeholder demos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6576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visualization pushing prediction from baseline. Intuitive for non-technical audiences and real-time explainability.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88036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37560" y="2971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794760" y="299008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37560" y="33832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Executive summary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36576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SHAP values per feature. Simple ranking of global feature importance for presentations and reports.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63640" y="2971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🌳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20840" y="299008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Plot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63640" y="33832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Complex decisions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36576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features cumulatively shift output. Excellent for comparing explanation paths across multiple predictions.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Standards &amp; Best Practices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Integration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530352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45720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72184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SHAP values alongside predictions in feature stores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4114800" cy="530352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057400"/>
            <a:ext cx="45720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112264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deployments on explainability thresholds (e.g. top-3 features explain &gt;70%)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697480"/>
            <a:ext cx="4114800" cy="530352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2697480"/>
            <a:ext cx="45720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752344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explainers with models — SHAP values change with retraining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4114800" cy="530352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3337560"/>
            <a:ext cx="45720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392424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SHAP computation in background jobs to avoid latency spikes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977640"/>
            <a:ext cx="4114800" cy="530352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977640"/>
            <a:ext cx="45720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032504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baseline values per model version to ensure consistency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5488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Monitoring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54880" y="1417320"/>
            <a:ext cx="4114800" cy="530352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66360" y="147218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SHAP distribution shifts — early warning of data drift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2057400"/>
            <a:ext cx="4114800" cy="530352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2148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166360" y="211226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explainability audit logs for compliance reporting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0" y="2697480"/>
            <a:ext cx="4114800" cy="530352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🧪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66360" y="275234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Unit-test SHAP outputs with synthetic edge cases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54880" y="3337560"/>
            <a:ext cx="4114800" cy="530352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66360" y="339242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global feature importance trends weekly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54880" y="3977640"/>
            <a:ext cx="4114800" cy="530352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166360" y="403250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access to full SHAP logs — protect PII in feature names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 Engineers on XAI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Building Pathway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9748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26974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463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intuition without math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1576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TreeExplainer on examples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37413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waterfall plots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03250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suspicious features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417320"/>
            <a:ext cx="269748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417320"/>
            <a:ext cx="2697480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3355848" y="1463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55848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05740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correct explainer type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271576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SHAP value anomalies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37413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summary dashboards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403250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explainability tests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1417320"/>
            <a:ext cx="269748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417320"/>
            <a:ext cx="269748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236208" y="1463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36208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63640" y="205740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SHAP pipelines in prod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271576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monitoring with SHAP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337413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others on XAI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403250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team-wide standards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44368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824728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Common Pitfalls to Avoid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4069080" cy="685800"/>
          </a:xfrm>
          <a:prstGeom prst="rect">
            <a:avLst/>
          </a:prstGeom>
          <a:solidFill>
            <a:srgbClr val="1A050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332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Using KernelExplainer on tree models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051560"/>
            <a:ext cx="457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03327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Always use TreeExplainer for trees — 100x faster and exact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64792"/>
            <a:ext cx="841248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764792"/>
            <a:ext cx="4069080" cy="685800"/>
          </a:xfrm>
          <a:prstGeom prst="rect">
            <a:avLst/>
          </a:prstGeom>
          <a:solidFill>
            <a:srgbClr val="1A0505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3794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Comparing SHAP values across different models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856232"/>
            <a:ext cx="457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837944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SHAP is model-specific; use consistent baselines for comparison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69464"/>
            <a:ext cx="841248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569464"/>
            <a:ext cx="4069080" cy="685800"/>
          </a:xfrm>
          <a:prstGeom prst="rect">
            <a:avLst/>
          </a:prstGeom>
          <a:solidFill>
            <a:srgbClr val="1A0505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64261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Treating correlation as causation from SHAP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34840" y="2660904"/>
            <a:ext cx="457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2642616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SHAP shows statistical attribution, not causal relationships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374136"/>
            <a:ext cx="841248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3374136"/>
            <a:ext cx="4069080" cy="685800"/>
          </a:xfrm>
          <a:prstGeom prst="rect">
            <a:avLst/>
          </a:prstGeom>
          <a:solidFill>
            <a:srgbClr val="1A0505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4472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High SHAP ≠ feature is good for the model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34840" y="3465576"/>
            <a:ext cx="457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344728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 feature with high SHAP may be capturing noise or bias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178808"/>
            <a:ext cx="841248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4178808"/>
            <a:ext cx="4069080" cy="685800"/>
          </a:xfrm>
          <a:prstGeom prst="rect">
            <a:avLst/>
          </a:prstGeom>
          <a:solidFill>
            <a:srgbClr val="1A0505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251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Ignoring feature interaction effects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34840" y="4270248"/>
            <a:ext cx="457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42519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shap_interaction_values for correlated feature groups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Checklist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Setup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990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appropriate SHAP explainer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7007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baseline from training data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0025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SHAP sum equals prediction delta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explainer config in model registry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7889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788920"/>
            <a:ext cx="411480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8346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2278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plots for individual predictions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5295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beeswarm for global overview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8313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 plots for key features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41330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plots to versioned artifact store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0058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13990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SHAP values with prediction IDs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00600" y="17007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SHAP drift alerts in monitoring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00600" y="20025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explainability in model card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00600" y="23042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weekly feature importance review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27889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788920"/>
            <a:ext cx="411480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28346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00600" y="32278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SHAP workshop with engineering team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00600" y="35295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 explainability outputs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00600" y="38313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internal SHAP usage guidelines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00600" y="41330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XAI to model deployment checklist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Is Not Optional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foundation of responsible ML in production.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2331720"/>
            <a:ext cx="27432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6060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TreeExplainer for tabular models — it's fast and exact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SHAP values in production from day one, not as an afterthought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6118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engineers interpretation, not just code — understanding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41148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explainability a deployment gate, not a retrospective audit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shap.readthedocs.io  •  github.com/shap/shap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SHAP-Based Interpretability for ML Models</dc:title>
  <dc:subject>PptxGenJS Presentation</dc:subject>
  <dc:creator>PptxGenJS</dc:creator>
  <cp:lastModifiedBy>PptxGenJS</cp:lastModifiedBy>
  <cp:revision>1</cp:revision>
  <dcterms:created xsi:type="dcterms:W3CDTF">2026-02-28T00:57:49Z</dcterms:created>
  <dcterms:modified xsi:type="dcterms:W3CDTF">2026-02-28T00:57:49Z</dcterms:modified>
</cp:coreProperties>
</file>